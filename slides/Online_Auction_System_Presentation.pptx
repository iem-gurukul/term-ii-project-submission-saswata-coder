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930" y="3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098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4619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9852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4772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8983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7231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1085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9897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760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3707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51401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1496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2094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6175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2702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4645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3/29/2026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4076403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IEM-Gurukul/term-ii-project-submission-Saswata-Cod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872749" cy="816077"/>
          </a:xfrm>
        </p:spPr>
        <p:txBody>
          <a:bodyPr/>
          <a:lstStyle/>
          <a:p>
            <a:pPr algn="ctr"/>
            <a:r>
              <a:rPr b="1" dirty="0">
                <a:solidFill>
                  <a:srgbClr val="00B0F0"/>
                </a:solidFill>
              </a:rPr>
              <a:t>Online Auction System</a:t>
            </a:r>
          </a:p>
        </p:txBody>
      </p:sp>
      <p:sp>
        <p:nvSpPr>
          <p:cNvPr id="3" name="Content Placeholder 2"/>
          <p:cNvSpPr>
            <a:spLocks noGrp="1"/>
          </p:cNvSpPr>
          <p:nvPr>
            <p:ph idx="1"/>
          </p:nvPr>
        </p:nvSpPr>
        <p:spPr>
          <a:xfrm>
            <a:off x="1875503" y="1506795"/>
            <a:ext cx="4977581" cy="1649360"/>
          </a:xfrm>
        </p:spPr>
        <p:txBody>
          <a:bodyPr>
            <a:normAutofit/>
          </a:bodyPr>
          <a:lstStyle/>
          <a:p>
            <a:r>
              <a:rPr sz="2400" dirty="0"/>
              <a:t>Java OOP Project</a:t>
            </a:r>
          </a:p>
          <a:p>
            <a:r>
              <a:rPr sz="2400" dirty="0"/>
              <a:t>Swing UI</a:t>
            </a:r>
          </a:p>
          <a:p>
            <a:r>
              <a:rPr sz="2400" dirty="0"/>
              <a:t>Dynamic Bidding System</a:t>
            </a:r>
          </a:p>
        </p:txBody>
      </p:sp>
      <p:sp>
        <p:nvSpPr>
          <p:cNvPr id="4" name="TextBox 3">
            <a:extLst>
              <a:ext uri="{FF2B5EF4-FFF2-40B4-BE49-F238E27FC236}">
                <a16:creationId xmlns:a16="http://schemas.microsoft.com/office/drawing/2014/main" id="{D07225DE-8729-3F55-6294-3DFCA84F4EA1}"/>
              </a:ext>
            </a:extLst>
          </p:cNvPr>
          <p:cNvSpPr txBox="1"/>
          <p:nvPr/>
        </p:nvSpPr>
        <p:spPr>
          <a:xfrm>
            <a:off x="383457" y="3873877"/>
            <a:ext cx="4709652" cy="1631216"/>
          </a:xfrm>
          <a:prstGeom prst="rect">
            <a:avLst/>
          </a:prstGeom>
          <a:noFill/>
        </p:spPr>
        <p:txBody>
          <a:bodyPr wrap="square" rtlCol="0">
            <a:spAutoFit/>
          </a:bodyPr>
          <a:lstStyle/>
          <a:p>
            <a:r>
              <a:rPr lang="en-US" sz="2000" dirty="0"/>
              <a:t>Name – Saswata Basak </a:t>
            </a:r>
            <a:br>
              <a:rPr lang="en-US" sz="2000" dirty="0"/>
            </a:br>
            <a:r>
              <a:rPr lang="en-US" sz="2000" dirty="0"/>
              <a:t>Stream – CSE (IoT)			Group – A</a:t>
            </a:r>
          </a:p>
          <a:p>
            <a:r>
              <a:rPr lang="en-US" sz="2000" dirty="0"/>
              <a:t>Roll No – 17</a:t>
            </a:r>
          </a:p>
          <a:p>
            <a:r>
              <a:rPr lang="en-US" sz="2000" dirty="0"/>
              <a:t>Enrollment No – 12024052019016</a:t>
            </a:r>
          </a:p>
          <a:p>
            <a:r>
              <a:rPr lang="en-US" sz="2000" dirty="0"/>
              <a:t>Year – 2</a:t>
            </a:r>
            <a:r>
              <a:rPr lang="en-US" sz="2000" baseline="30000" dirty="0"/>
              <a:t>nd</a:t>
            </a:r>
            <a:r>
              <a:rPr lang="en-US" sz="2000" dirty="0"/>
              <a:t> </a:t>
            </a:r>
            <a:endParaRPr lang="en-IN" sz="2000" dirty="0"/>
          </a:p>
        </p:txBody>
      </p:sp>
      <p:pic>
        <p:nvPicPr>
          <p:cNvPr id="6" name="Picture 5">
            <a:extLst>
              <a:ext uri="{FF2B5EF4-FFF2-40B4-BE49-F238E27FC236}">
                <a16:creationId xmlns:a16="http://schemas.microsoft.com/office/drawing/2014/main" id="{8C00EF00-89FC-F15E-F237-3DA3E4B70720}"/>
              </a:ext>
            </a:extLst>
          </p:cNvPr>
          <p:cNvPicPr>
            <a:picLocks noChangeAspect="1"/>
          </p:cNvPicPr>
          <p:nvPr/>
        </p:nvPicPr>
        <p:blipFill>
          <a:blip r:embed="rId2"/>
          <a:stretch>
            <a:fillRect/>
          </a:stretch>
        </p:blipFill>
        <p:spPr>
          <a:xfrm>
            <a:off x="4918268" y="3156155"/>
            <a:ext cx="4006887" cy="31659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normAutofit/>
          </a:bodyPr>
          <a:lstStyle/>
          <a:p>
            <a:r>
              <a:rPr lang="en-US" sz="2400" dirty="0"/>
              <a:t>Traditional auction systems require users to be physically present. This Online Auction System allows users to buy and sell items conveniently over the internet. It includes features like user registration, item listing, bidding, tracking bids, and declaring winners. The project demonstrates the use of object-oriented and modular programming concepts using Java.</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3" name="Content Placeholder 2"/>
          <p:cNvSpPr>
            <a:spLocks noGrp="1"/>
          </p:cNvSpPr>
          <p:nvPr>
            <p:ph idx="1"/>
          </p:nvPr>
        </p:nvSpPr>
        <p:spPr>
          <a:xfrm>
            <a:off x="985684" y="1461376"/>
            <a:ext cx="5245510" cy="2549013"/>
          </a:xfrm>
        </p:spPr>
        <p:txBody>
          <a:bodyPr>
            <a:normAutofit/>
          </a:bodyPr>
          <a:lstStyle/>
          <a:p>
            <a:pPr marL="0" indent="0">
              <a:buNone/>
            </a:pPr>
            <a:r>
              <a:rPr sz="2400" dirty="0"/>
              <a:t>• User registration and login</a:t>
            </a:r>
          </a:p>
          <a:p>
            <a:pPr marL="0" indent="0">
              <a:buNone/>
            </a:pPr>
            <a:r>
              <a:rPr lang="en-IN" sz="2400" dirty="0"/>
              <a:t>•</a:t>
            </a:r>
            <a:r>
              <a:rPr sz="2400" dirty="0"/>
              <a:t> Real-time bidding</a:t>
            </a:r>
          </a:p>
          <a:p>
            <a:pPr marL="0" indent="0">
              <a:buNone/>
            </a:pPr>
            <a:r>
              <a:rPr sz="2400" dirty="0"/>
              <a:t>• Auction timer</a:t>
            </a:r>
          </a:p>
          <a:p>
            <a:pPr marL="0" indent="0">
              <a:buNone/>
            </a:pPr>
            <a:r>
              <a:rPr sz="2400" dirty="0"/>
              <a:t>• Winner determination</a:t>
            </a:r>
          </a:p>
        </p:txBody>
      </p:sp>
      <p:pic>
        <p:nvPicPr>
          <p:cNvPr id="5" name="Picture 4">
            <a:extLst>
              <a:ext uri="{FF2B5EF4-FFF2-40B4-BE49-F238E27FC236}">
                <a16:creationId xmlns:a16="http://schemas.microsoft.com/office/drawing/2014/main" id="{675983F2-CB9C-3D19-A418-0D2F4182634A}"/>
              </a:ext>
            </a:extLst>
          </p:cNvPr>
          <p:cNvPicPr>
            <a:picLocks noChangeAspect="1"/>
          </p:cNvPicPr>
          <p:nvPr/>
        </p:nvPicPr>
        <p:blipFill>
          <a:blip r:embed="rId2"/>
          <a:stretch>
            <a:fillRect/>
          </a:stretch>
        </p:blipFill>
        <p:spPr>
          <a:xfrm>
            <a:off x="3116826" y="3833408"/>
            <a:ext cx="4511363" cy="22723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a:xfrm>
            <a:off x="1115962" y="1287207"/>
            <a:ext cx="5914103" cy="2499852"/>
          </a:xfrm>
        </p:spPr>
        <p:txBody>
          <a:bodyPr>
            <a:normAutofit/>
          </a:bodyPr>
          <a:lstStyle/>
          <a:p>
            <a:pPr marL="0" indent="0">
              <a:buNone/>
            </a:pPr>
            <a:r>
              <a:rPr sz="2400" dirty="0"/>
              <a:t>• Java</a:t>
            </a:r>
          </a:p>
          <a:p>
            <a:pPr marL="0" indent="0">
              <a:buNone/>
            </a:pPr>
            <a:r>
              <a:rPr sz="2400" dirty="0"/>
              <a:t>• Swing (UI)</a:t>
            </a:r>
          </a:p>
          <a:p>
            <a:pPr marL="0" indent="0">
              <a:buNone/>
            </a:pPr>
            <a:r>
              <a:rPr sz="2400" dirty="0"/>
              <a:t>• OOP Concepts</a:t>
            </a:r>
          </a:p>
          <a:p>
            <a:pPr marL="0" indent="0">
              <a:buNone/>
            </a:pPr>
            <a:r>
              <a:rPr sz="2400" dirty="0"/>
              <a:t>• Collections Framework</a:t>
            </a:r>
          </a:p>
        </p:txBody>
      </p:sp>
      <p:sp>
        <p:nvSpPr>
          <p:cNvPr id="4" name="Title 1"/>
          <p:cNvSpPr txBox="1">
            <a:spLocks/>
          </p:cNvSpPr>
          <p:nvPr/>
        </p:nvSpPr>
        <p:spPr>
          <a:xfrm>
            <a:off x="752167" y="3640398"/>
            <a:ext cx="6347713"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OOP Concepts</a:t>
            </a:r>
          </a:p>
        </p:txBody>
      </p:sp>
      <p:sp>
        <p:nvSpPr>
          <p:cNvPr id="5" name="Content Placeholder 2"/>
          <p:cNvSpPr txBox="1">
            <a:spLocks/>
          </p:cNvSpPr>
          <p:nvPr/>
        </p:nvSpPr>
        <p:spPr>
          <a:xfrm>
            <a:off x="1115962" y="4283591"/>
            <a:ext cx="5687963" cy="23703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sz="2400" dirty="0"/>
              <a:t>• Abstraction (User class)</a:t>
            </a:r>
          </a:p>
          <a:p>
            <a:pPr marL="0" indent="0">
              <a:buFont typeface="Wingdings 3" charset="2"/>
              <a:buNone/>
            </a:pPr>
            <a:r>
              <a:rPr lang="en-IN" sz="2400" dirty="0"/>
              <a:t>• Inheritance (Buyer, Seller)</a:t>
            </a:r>
          </a:p>
          <a:p>
            <a:pPr marL="0" indent="0">
              <a:buFont typeface="Wingdings 3" charset="2"/>
              <a:buNone/>
            </a:pPr>
            <a:r>
              <a:rPr lang="en-IN" sz="2400" dirty="0"/>
              <a:t>• Encapsulation</a:t>
            </a:r>
          </a:p>
          <a:p>
            <a:pPr marL="0" indent="0">
              <a:buFont typeface="Wingdings 3" charset="2"/>
              <a:buNone/>
            </a:pPr>
            <a:r>
              <a:rPr lang="en-IN" sz="2400" dirty="0"/>
              <a:t>• Polymorphism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6C25EF-353E-0159-A938-3CA74B992B7C}"/>
              </a:ext>
            </a:extLst>
          </p:cNvPr>
          <p:cNvSpPr txBox="1"/>
          <p:nvPr/>
        </p:nvSpPr>
        <p:spPr>
          <a:xfrm>
            <a:off x="628274" y="668733"/>
            <a:ext cx="6268065" cy="646331"/>
          </a:xfrm>
          <a:prstGeom prst="rect">
            <a:avLst/>
          </a:prstGeom>
          <a:noFill/>
        </p:spPr>
        <p:txBody>
          <a:bodyPr wrap="square">
            <a:spAutoFit/>
          </a:bodyPr>
          <a:lstStyle/>
          <a:p>
            <a:r>
              <a:rPr lang="en-IN" sz="3600" dirty="0">
                <a:solidFill>
                  <a:schemeClr val="accent1"/>
                </a:solidFill>
                <a:latin typeface="+mj-lt"/>
                <a:ea typeface="+mj-ea"/>
                <a:cs typeface="+mj-cs"/>
              </a:rPr>
              <a:t>Project Structure</a:t>
            </a:r>
          </a:p>
        </p:txBody>
      </p:sp>
      <p:pic>
        <p:nvPicPr>
          <p:cNvPr id="7" name="Picture 6">
            <a:extLst>
              <a:ext uri="{FF2B5EF4-FFF2-40B4-BE49-F238E27FC236}">
                <a16:creationId xmlns:a16="http://schemas.microsoft.com/office/drawing/2014/main" id="{65FECF15-E05A-FD74-834A-AA108E4F63E1}"/>
              </a:ext>
            </a:extLst>
          </p:cNvPr>
          <p:cNvPicPr>
            <a:picLocks noChangeAspect="1"/>
          </p:cNvPicPr>
          <p:nvPr/>
        </p:nvPicPr>
        <p:blipFill>
          <a:blip r:embed="rId2"/>
          <a:srcRect r="50693"/>
          <a:stretch>
            <a:fillRect/>
          </a:stretch>
        </p:blipFill>
        <p:spPr>
          <a:xfrm>
            <a:off x="5043948" y="1636311"/>
            <a:ext cx="2654710" cy="4862345"/>
          </a:xfrm>
          <a:prstGeom prst="rect">
            <a:avLst/>
          </a:prstGeom>
        </p:spPr>
      </p:pic>
      <p:sp>
        <p:nvSpPr>
          <p:cNvPr id="8" name="TextBox 7">
            <a:extLst>
              <a:ext uri="{FF2B5EF4-FFF2-40B4-BE49-F238E27FC236}">
                <a16:creationId xmlns:a16="http://schemas.microsoft.com/office/drawing/2014/main" id="{32AC55EB-2352-1488-602A-D5BC84B8652A}"/>
              </a:ext>
            </a:extLst>
          </p:cNvPr>
          <p:cNvSpPr txBox="1"/>
          <p:nvPr/>
        </p:nvSpPr>
        <p:spPr>
          <a:xfrm>
            <a:off x="1133963" y="1428216"/>
            <a:ext cx="3988643" cy="4247317"/>
          </a:xfrm>
          <a:prstGeom prst="rect">
            <a:avLst/>
          </a:prstGeom>
          <a:noFill/>
        </p:spPr>
        <p:txBody>
          <a:bodyPr wrap="square" rtlCol="0">
            <a:spAutoFit/>
          </a:bodyPr>
          <a:lstStyle/>
          <a:p>
            <a:r>
              <a:rPr lang="en-IN" dirty="0" err="1"/>
              <a:t>src</a:t>
            </a:r>
            <a:r>
              <a:rPr lang="en-IN" dirty="0"/>
              <a:t>/</a:t>
            </a:r>
            <a:br>
              <a:rPr lang="en-IN" dirty="0"/>
            </a:br>
            <a:r>
              <a:rPr lang="en-IN" dirty="0"/>
              <a:t>│ ├── Main.java</a:t>
            </a:r>
            <a:br>
              <a:rPr lang="en-IN" dirty="0"/>
            </a:br>
            <a:r>
              <a:rPr lang="en-IN" dirty="0"/>
              <a:t>│ ├── model/</a:t>
            </a:r>
            <a:br>
              <a:rPr lang="en-IN" dirty="0"/>
            </a:br>
            <a:r>
              <a:rPr lang="en-IN" dirty="0"/>
              <a:t>│ │ ├── User.java</a:t>
            </a:r>
            <a:br>
              <a:rPr lang="en-IN" dirty="0"/>
            </a:br>
            <a:r>
              <a:rPr lang="en-IN" dirty="0"/>
              <a:t>│ │ ├── Buyer.java</a:t>
            </a:r>
            <a:br>
              <a:rPr lang="en-IN" dirty="0"/>
            </a:br>
            <a:r>
              <a:rPr lang="en-IN" dirty="0"/>
              <a:t>│ │ ├── Seller.java</a:t>
            </a:r>
            <a:br>
              <a:rPr lang="en-IN" dirty="0"/>
            </a:br>
            <a:r>
              <a:rPr lang="en-IN" dirty="0"/>
              <a:t>│ │ ├── Item.java</a:t>
            </a:r>
            <a:br>
              <a:rPr lang="en-IN" dirty="0"/>
            </a:br>
            <a:r>
              <a:rPr lang="en-IN" dirty="0"/>
              <a:t>│ │ ├── Bid.java</a:t>
            </a:r>
            <a:br>
              <a:rPr lang="en-IN" dirty="0"/>
            </a:br>
            <a:r>
              <a:rPr lang="en-IN" dirty="0"/>
              <a:t>│ │</a:t>
            </a:r>
            <a:br>
              <a:rPr lang="en-IN" dirty="0"/>
            </a:br>
            <a:r>
              <a:rPr lang="en-IN" dirty="0"/>
              <a:t>│ ├── service/</a:t>
            </a:r>
            <a:br>
              <a:rPr lang="en-IN" dirty="0"/>
            </a:br>
            <a:r>
              <a:rPr lang="en-IN" dirty="0"/>
              <a:t>│ │ ├── AuctionService.java</a:t>
            </a:r>
            <a:br>
              <a:rPr lang="en-IN" dirty="0"/>
            </a:br>
            <a:r>
              <a:rPr lang="en-IN" dirty="0"/>
              <a:t>│ │</a:t>
            </a:r>
            <a:br>
              <a:rPr lang="en-IN" dirty="0"/>
            </a:br>
            <a:r>
              <a:rPr lang="en-IN" dirty="0"/>
              <a:t>│ ├── </a:t>
            </a:r>
            <a:r>
              <a:rPr lang="en-IN" dirty="0" err="1"/>
              <a:t>ui</a:t>
            </a:r>
            <a:r>
              <a:rPr lang="en-IN" dirty="0"/>
              <a:t>/</a:t>
            </a:r>
            <a:br>
              <a:rPr lang="en-IN" dirty="0"/>
            </a:br>
            <a:r>
              <a:rPr lang="en-IN" dirty="0"/>
              <a:t>│ ├── LoginUI.java</a:t>
            </a:r>
            <a:br>
              <a:rPr lang="en-IN" dirty="0"/>
            </a:br>
            <a:r>
              <a:rPr lang="en-IN" dirty="0"/>
              <a:t>│ ├── AuctionUI.java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User Interface</a:t>
            </a:r>
          </a:p>
        </p:txBody>
      </p:sp>
      <p:pic>
        <p:nvPicPr>
          <p:cNvPr id="5" name="Picture 4">
            <a:extLst>
              <a:ext uri="{FF2B5EF4-FFF2-40B4-BE49-F238E27FC236}">
                <a16:creationId xmlns:a16="http://schemas.microsoft.com/office/drawing/2014/main" id="{2565F1CC-8730-60B0-B030-4CED9E2CAC70}"/>
              </a:ext>
            </a:extLst>
          </p:cNvPr>
          <p:cNvPicPr>
            <a:picLocks noChangeAspect="1"/>
          </p:cNvPicPr>
          <p:nvPr/>
        </p:nvPicPr>
        <p:blipFill>
          <a:blip r:embed="rId2"/>
          <a:stretch>
            <a:fillRect/>
          </a:stretch>
        </p:blipFill>
        <p:spPr>
          <a:xfrm>
            <a:off x="99394" y="2222861"/>
            <a:ext cx="3684061" cy="2207997"/>
          </a:xfrm>
          <a:prstGeom prst="rect">
            <a:avLst/>
          </a:prstGeom>
        </p:spPr>
      </p:pic>
      <p:sp>
        <p:nvSpPr>
          <p:cNvPr id="6" name="TextBox 5">
            <a:extLst>
              <a:ext uri="{FF2B5EF4-FFF2-40B4-BE49-F238E27FC236}">
                <a16:creationId xmlns:a16="http://schemas.microsoft.com/office/drawing/2014/main" id="{E111B049-0C4E-07CB-7F61-A5C5784C21AD}"/>
              </a:ext>
            </a:extLst>
          </p:cNvPr>
          <p:cNvSpPr txBox="1"/>
          <p:nvPr/>
        </p:nvSpPr>
        <p:spPr>
          <a:xfrm>
            <a:off x="558248" y="1661132"/>
            <a:ext cx="2699403" cy="830997"/>
          </a:xfrm>
          <a:prstGeom prst="rect">
            <a:avLst/>
          </a:prstGeom>
          <a:noFill/>
        </p:spPr>
        <p:txBody>
          <a:bodyPr wrap="square" rtlCol="0">
            <a:spAutoFit/>
          </a:bodyPr>
          <a:lstStyle/>
          <a:p>
            <a:r>
              <a:rPr lang="en-IN" sz="2400" dirty="0"/>
              <a:t>• Login Screen</a:t>
            </a:r>
          </a:p>
          <a:p>
            <a:endParaRPr lang="en-IN" sz="2400" dirty="0"/>
          </a:p>
        </p:txBody>
      </p:sp>
      <p:sp>
        <p:nvSpPr>
          <p:cNvPr id="7" name="TextBox 6">
            <a:extLst>
              <a:ext uri="{FF2B5EF4-FFF2-40B4-BE49-F238E27FC236}">
                <a16:creationId xmlns:a16="http://schemas.microsoft.com/office/drawing/2014/main" id="{DB1831AF-ED1C-B64B-B494-C67AD0B55064}"/>
              </a:ext>
            </a:extLst>
          </p:cNvPr>
          <p:cNvSpPr txBox="1"/>
          <p:nvPr/>
        </p:nvSpPr>
        <p:spPr>
          <a:xfrm>
            <a:off x="4921044" y="1661132"/>
            <a:ext cx="2905433" cy="830997"/>
          </a:xfrm>
          <a:prstGeom prst="rect">
            <a:avLst/>
          </a:prstGeom>
          <a:noFill/>
        </p:spPr>
        <p:txBody>
          <a:bodyPr wrap="square" rtlCol="0">
            <a:spAutoFit/>
          </a:bodyPr>
          <a:lstStyle/>
          <a:p>
            <a:r>
              <a:rPr lang="en-IN" sz="2400" dirty="0"/>
              <a:t>• Auction Panel</a:t>
            </a:r>
          </a:p>
          <a:p>
            <a:endParaRPr lang="en-IN" sz="2400" dirty="0"/>
          </a:p>
        </p:txBody>
      </p:sp>
      <p:pic>
        <p:nvPicPr>
          <p:cNvPr id="10" name="Picture 9">
            <a:extLst>
              <a:ext uri="{FF2B5EF4-FFF2-40B4-BE49-F238E27FC236}">
                <a16:creationId xmlns:a16="http://schemas.microsoft.com/office/drawing/2014/main" id="{CFE82A77-F829-C104-9B10-EFF63A7BB502}"/>
              </a:ext>
            </a:extLst>
          </p:cNvPr>
          <p:cNvPicPr>
            <a:picLocks noChangeAspect="1"/>
          </p:cNvPicPr>
          <p:nvPr/>
        </p:nvPicPr>
        <p:blipFill>
          <a:blip r:embed="rId3"/>
          <a:stretch>
            <a:fillRect/>
          </a:stretch>
        </p:blipFill>
        <p:spPr>
          <a:xfrm>
            <a:off x="3978821" y="2222861"/>
            <a:ext cx="5165179" cy="3467968"/>
          </a:xfrm>
          <a:prstGeom prst="rect">
            <a:avLst/>
          </a:prstGeom>
        </p:spPr>
      </p:pic>
      <p:sp>
        <p:nvSpPr>
          <p:cNvPr id="11" name="Arrow: Right 10">
            <a:extLst>
              <a:ext uri="{FF2B5EF4-FFF2-40B4-BE49-F238E27FC236}">
                <a16:creationId xmlns:a16="http://schemas.microsoft.com/office/drawing/2014/main" id="{7ABA74A8-ADAC-CB86-CF0A-2C1B0F3202F1}"/>
              </a:ext>
            </a:extLst>
          </p:cNvPr>
          <p:cNvSpPr/>
          <p:nvPr/>
        </p:nvSpPr>
        <p:spPr>
          <a:xfrm rot="17446565">
            <a:off x="3697168" y="4171948"/>
            <a:ext cx="688216" cy="2904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3063438" y="4836619"/>
            <a:ext cx="1361077" cy="925084"/>
          </a:xfrm>
        </p:spPr>
        <p:txBody>
          <a:bodyPr>
            <a:normAutofit/>
          </a:bodyPr>
          <a:lstStyle/>
          <a:p>
            <a:pPr marL="0" indent="0">
              <a:buNone/>
            </a:pPr>
            <a:r>
              <a:rPr dirty="0"/>
              <a:t>Bid history display</a:t>
            </a:r>
          </a:p>
        </p:txBody>
      </p:sp>
      <p:sp>
        <p:nvSpPr>
          <p:cNvPr id="12" name="TextBox 11">
            <a:extLst>
              <a:ext uri="{FF2B5EF4-FFF2-40B4-BE49-F238E27FC236}">
                <a16:creationId xmlns:a16="http://schemas.microsoft.com/office/drawing/2014/main" id="{0120A25F-752B-8126-92BD-C8281DAF261E}"/>
              </a:ext>
            </a:extLst>
          </p:cNvPr>
          <p:cNvSpPr txBox="1"/>
          <p:nvPr/>
        </p:nvSpPr>
        <p:spPr>
          <a:xfrm>
            <a:off x="6521166" y="3719541"/>
            <a:ext cx="2622834" cy="646331"/>
          </a:xfrm>
          <a:prstGeom prst="rect">
            <a:avLst/>
          </a:prstGeom>
          <a:noFill/>
        </p:spPr>
        <p:txBody>
          <a:bodyPr wrap="none" rtlCol="0">
            <a:spAutoFit/>
          </a:bodyPr>
          <a:lstStyle/>
          <a:p>
            <a:r>
              <a:rPr lang="en-IN" dirty="0"/>
              <a:t>Dropdown user selector</a:t>
            </a:r>
          </a:p>
          <a:p>
            <a:endParaRPr lang="en-IN" dirty="0"/>
          </a:p>
        </p:txBody>
      </p:sp>
      <p:sp>
        <p:nvSpPr>
          <p:cNvPr id="13" name="Arrow: Right 12">
            <a:extLst>
              <a:ext uri="{FF2B5EF4-FFF2-40B4-BE49-F238E27FC236}">
                <a16:creationId xmlns:a16="http://schemas.microsoft.com/office/drawing/2014/main" id="{5805EAC5-DF27-C813-DD29-4FDB7C9BEA8E}"/>
              </a:ext>
            </a:extLst>
          </p:cNvPr>
          <p:cNvSpPr/>
          <p:nvPr/>
        </p:nvSpPr>
        <p:spPr>
          <a:xfrm rot="16200000">
            <a:off x="7592264" y="3328158"/>
            <a:ext cx="551952" cy="299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F8553D0-CB86-335A-9206-F43692C51973}"/>
              </a:ext>
            </a:extLst>
          </p:cNvPr>
          <p:cNvSpPr txBox="1"/>
          <p:nvPr/>
        </p:nvSpPr>
        <p:spPr>
          <a:xfrm>
            <a:off x="5605537" y="4505723"/>
            <a:ext cx="1116011" cy="369332"/>
          </a:xfrm>
          <a:prstGeom prst="rect">
            <a:avLst/>
          </a:prstGeom>
          <a:noFill/>
        </p:spPr>
        <p:txBody>
          <a:bodyPr wrap="none" rtlCol="0">
            <a:spAutoFit/>
          </a:bodyPr>
          <a:lstStyle/>
          <a:p>
            <a:r>
              <a:rPr lang="en-IN" dirty="0"/>
              <a:t>Bid input</a:t>
            </a:r>
          </a:p>
        </p:txBody>
      </p:sp>
      <p:sp>
        <p:nvSpPr>
          <p:cNvPr id="15" name="Arrow: Right 14">
            <a:extLst>
              <a:ext uri="{FF2B5EF4-FFF2-40B4-BE49-F238E27FC236}">
                <a16:creationId xmlns:a16="http://schemas.microsoft.com/office/drawing/2014/main" id="{BA5823D0-DAB9-F912-BFCF-1139B199AC19}"/>
              </a:ext>
            </a:extLst>
          </p:cNvPr>
          <p:cNvSpPr/>
          <p:nvPr/>
        </p:nvSpPr>
        <p:spPr>
          <a:xfrm rot="5400000">
            <a:off x="5871797" y="5016883"/>
            <a:ext cx="513516" cy="2298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Features</a:t>
            </a:r>
          </a:p>
        </p:txBody>
      </p:sp>
      <p:pic>
        <p:nvPicPr>
          <p:cNvPr id="5" name="Picture 4">
            <a:extLst>
              <a:ext uri="{FF2B5EF4-FFF2-40B4-BE49-F238E27FC236}">
                <a16:creationId xmlns:a16="http://schemas.microsoft.com/office/drawing/2014/main" id="{5C768E2F-6799-6562-74B0-6D1836CA7C93}"/>
              </a:ext>
            </a:extLst>
          </p:cNvPr>
          <p:cNvPicPr>
            <a:picLocks noChangeAspect="1"/>
          </p:cNvPicPr>
          <p:nvPr/>
        </p:nvPicPr>
        <p:blipFill>
          <a:blip r:embed="rId2"/>
          <a:stretch>
            <a:fillRect/>
          </a:stretch>
        </p:blipFill>
        <p:spPr>
          <a:xfrm>
            <a:off x="6422856" y="2781433"/>
            <a:ext cx="1901141" cy="2990967"/>
          </a:xfrm>
          <a:prstGeom prst="rect">
            <a:avLst/>
          </a:prstGeom>
        </p:spPr>
      </p:pic>
      <p:pic>
        <p:nvPicPr>
          <p:cNvPr id="7" name="Picture 6">
            <a:extLst>
              <a:ext uri="{FF2B5EF4-FFF2-40B4-BE49-F238E27FC236}">
                <a16:creationId xmlns:a16="http://schemas.microsoft.com/office/drawing/2014/main" id="{381FB680-723E-460A-BA55-C314989EC604}"/>
              </a:ext>
            </a:extLst>
          </p:cNvPr>
          <p:cNvPicPr>
            <a:picLocks noChangeAspect="1"/>
          </p:cNvPicPr>
          <p:nvPr/>
        </p:nvPicPr>
        <p:blipFill>
          <a:blip r:embed="rId3"/>
          <a:stretch>
            <a:fillRect/>
          </a:stretch>
        </p:blipFill>
        <p:spPr>
          <a:xfrm>
            <a:off x="152947" y="2118456"/>
            <a:ext cx="6181419" cy="4129944"/>
          </a:xfrm>
          <a:prstGeom prst="rect">
            <a:avLst/>
          </a:prstGeom>
        </p:spPr>
      </p:pic>
      <p:sp>
        <p:nvSpPr>
          <p:cNvPr id="8" name="TextBox 7">
            <a:extLst>
              <a:ext uri="{FF2B5EF4-FFF2-40B4-BE49-F238E27FC236}">
                <a16:creationId xmlns:a16="http://schemas.microsoft.com/office/drawing/2014/main" id="{1C7C65FA-5DBB-E049-1F2F-917C10F8E22C}"/>
              </a:ext>
            </a:extLst>
          </p:cNvPr>
          <p:cNvSpPr txBox="1"/>
          <p:nvPr/>
        </p:nvSpPr>
        <p:spPr>
          <a:xfrm>
            <a:off x="6422856" y="1950436"/>
            <a:ext cx="2721144" cy="1200329"/>
          </a:xfrm>
          <a:prstGeom prst="rect">
            <a:avLst/>
          </a:prstGeom>
          <a:noFill/>
        </p:spPr>
        <p:txBody>
          <a:bodyPr wrap="square" rtlCol="0">
            <a:spAutoFit/>
          </a:bodyPr>
          <a:lstStyle/>
          <a:p>
            <a:r>
              <a:rPr lang="en-IN" sz="2400" dirty="0"/>
              <a:t>• Dynamic user addition</a:t>
            </a:r>
          </a:p>
          <a:p>
            <a:endParaRPr lang="en-IN" sz="2400" dirty="0"/>
          </a:p>
        </p:txBody>
      </p:sp>
      <p:sp>
        <p:nvSpPr>
          <p:cNvPr id="9" name="TextBox 8">
            <a:extLst>
              <a:ext uri="{FF2B5EF4-FFF2-40B4-BE49-F238E27FC236}">
                <a16:creationId xmlns:a16="http://schemas.microsoft.com/office/drawing/2014/main" id="{5EF824C4-E56F-FCDF-81CE-F74773B63B71}"/>
              </a:ext>
            </a:extLst>
          </p:cNvPr>
          <p:cNvSpPr txBox="1"/>
          <p:nvPr/>
        </p:nvSpPr>
        <p:spPr>
          <a:xfrm>
            <a:off x="2438686" y="5132041"/>
            <a:ext cx="2246671" cy="1200329"/>
          </a:xfrm>
          <a:prstGeom prst="rect">
            <a:avLst/>
          </a:prstGeom>
          <a:noFill/>
        </p:spPr>
        <p:txBody>
          <a:bodyPr wrap="square" rtlCol="0">
            <a:spAutoFit/>
          </a:bodyPr>
          <a:lstStyle/>
          <a:p>
            <a:r>
              <a:rPr lang="en-IN" sz="2400" dirty="0"/>
              <a:t>• Auto winner declaration</a:t>
            </a:r>
          </a:p>
          <a:p>
            <a:endParaRPr lang="en-IN" sz="2400" dirty="0"/>
          </a:p>
        </p:txBody>
      </p:sp>
      <p:sp>
        <p:nvSpPr>
          <p:cNvPr id="11" name="TextBox 10">
            <a:extLst>
              <a:ext uri="{FF2B5EF4-FFF2-40B4-BE49-F238E27FC236}">
                <a16:creationId xmlns:a16="http://schemas.microsoft.com/office/drawing/2014/main" id="{B3559917-16FB-4B23-50E4-2AB4B73288F5}"/>
              </a:ext>
            </a:extLst>
          </p:cNvPr>
          <p:cNvSpPr txBox="1"/>
          <p:nvPr/>
        </p:nvSpPr>
        <p:spPr>
          <a:xfrm>
            <a:off x="732913" y="1534937"/>
            <a:ext cx="3261727" cy="830997"/>
          </a:xfrm>
          <a:prstGeom prst="rect">
            <a:avLst/>
          </a:prstGeom>
          <a:noFill/>
        </p:spPr>
        <p:txBody>
          <a:bodyPr wrap="none" rtlCol="0">
            <a:spAutoFit/>
          </a:bodyPr>
          <a:lstStyle/>
          <a:p>
            <a:r>
              <a:rPr lang="en-IN" sz="2400" dirty="0"/>
              <a:t>• Timer-based auction</a:t>
            </a:r>
          </a:p>
          <a:p>
            <a:endParaRPr lang="en-IN" sz="2400" dirty="0"/>
          </a:p>
        </p:txBody>
      </p:sp>
      <p:sp>
        <p:nvSpPr>
          <p:cNvPr id="12" name="Arrow: Up 11">
            <a:extLst>
              <a:ext uri="{FF2B5EF4-FFF2-40B4-BE49-F238E27FC236}">
                <a16:creationId xmlns:a16="http://schemas.microsoft.com/office/drawing/2014/main" id="{DCD3A01A-51CC-21A1-F203-563796C9C69D}"/>
              </a:ext>
            </a:extLst>
          </p:cNvPr>
          <p:cNvSpPr/>
          <p:nvPr/>
        </p:nvSpPr>
        <p:spPr>
          <a:xfrm rot="8065350">
            <a:off x="2778895" y="1892658"/>
            <a:ext cx="157537" cy="92651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Up 12">
            <a:extLst>
              <a:ext uri="{FF2B5EF4-FFF2-40B4-BE49-F238E27FC236}">
                <a16:creationId xmlns:a16="http://schemas.microsoft.com/office/drawing/2014/main" id="{46FC8F2F-E473-71B0-77F1-4746696F5F17}"/>
              </a:ext>
            </a:extLst>
          </p:cNvPr>
          <p:cNvSpPr/>
          <p:nvPr/>
        </p:nvSpPr>
        <p:spPr>
          <a:xfrm>
            <a:off x="2718800" y="4396548"/>
            <a:ext cx="157537" cy="73549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Up 14">
            <a:extLst>
              <a:ext uri="{FF2B5EF4-FFF2-40B4-BE49-F238E27FC236}">
                <a16:creationId xmlns:a16="http://schemas.microsoft.com/office/drawing/2014/main" id="{7A99F8FE-F151-140B-FD21-E545AD3B59D4}"/>
              </a:ext>
            </a:extLst>
          </p:cNvPr>
          <p:cNvSpPr/>
          <p:nvPr/>
        </p:nvSpPr>
        <p:spPr>
          <a:xfrm rot="5980570">
            <a:off x="5562053" y="2409004"/>
            <a:ext cx="166134" cy="1606246"/>
          </a:xfrm>
          <a:prstGeom prst="up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Auction Flow</a:t>
            </a:r>
          </a:p>
        </p:txBody>
      </p:sp>
      <p:sp>
        <p:nvSpPr>
          <p:cNvPr id="3" name="Content Placeholder 2"/>
          <p:cNvSpPr>
            <a:spLocks noGrp="1"/>
          </p:cNvSpPr>
          <p:nvPr>
            <p:ph idx="1"/>
          </p:nvPr>
        </p:nvSpPr>
        <p:spPr>
          <a:xfrm>
            <a:off x="1091380" y="1270000"/>
            <a:ext cx="6272981" cy="4442542"/>
          </a:xfrm>
        </p:spPr>
        <p:txBody>
          <a:bodyPr>
            <a:normAutofit/>
          </a:bodyPr>
          <a:lstStyle/>
          <a:p>
            <a:pPr marL="0" indent="0">
              <a:buNone/>
            </a:pPr>
            <a:r>
              <a:rPr lang="en-US" sz="2400" b="1" dirty="0"/>
              <a:t>1. </a:t>
            </a:r>
            <a:r>
              <a:rPr sz="2400" b="1" dirty="0"/>
              <a:t>User enters name</a:t>
            </a:r>
            <a:endParaRPr lang="en-US" sz="2400" b="1" dirty="0"/>
          </a:p>
          <a:p>
            <a:pPr marL="457200" indent="-457200">
              <a:buAutoNum type="arabicPeriod"/>
            </a:pPr>
            <a:endParaRPr sz="2400" b="1" dirty="0"/>
          </a:p>
          <a:p>
            <a:pPr marL="0" indent="0">
              <a:buNone/>
            </a:pPr>
            <a:r>
              <a:rPr lang="en-IN" sz="2400" b="1" dirty="0"/>
              <a:t>2. </a:t>
            </a:r>
            <a:r>
              <a:rPr sz="2400" b="1" dirty="0"/>
              <a:t>Selects or adds user</a:t>
            </a:r>
            <a:endParaRPr lang="en-US" sz="2400" b="1" dirty="0"/>
          </a:p>
          <a:p>
            <a:pPr marL="0" indent="0">
              <a:buNone/>
            </a:pPr>
            <a:endParaRPr sz="2400" b="1" dirty="0"/>
          </a:p>
          <a:p>
            <a:pPr marL="0" indent="0">
              <a:buNone/>
            </a:pPr>
            <a:r>
              <a:rPr sz="2400" b="1" dirty="0"/>
              <a:t>3. Places bid</a:t>
            </a:r>
            <a:endParaRPr lang="en-US" sz="2400" b="1" dirty="0"/>
          </a:p>
          <a:p>
            <a:pPr marL="0" indent="0">
              <a:buNone/>
            </a:pPr>
            <a:endParaRPr sz="2400" b="1" dirty="0"/>
          </a:p>
          <a:p>
            <a:pPr marL="0" indent="0">
              <a:buNone/>
            </a:pPr>
            <a:r>
              <a:rPr sz="2400" b="1" dirty="0"/>
              <a:t>4. Timer resets</a:t>
            </a:r>
            <a:endParaRPr lang="en-US" sz="2400" b="1" dirty="0"/>
          </a:p>
          <a:p>
            <a:pPr marL="0" indent="0">
              <a:buNone/>
            </a:pPr>
            <a:endParaRPr sz="2400" b="1" dirty="0"/>
          </a:p>
          <a:p>
            <a:pPr marL="0" indent="0">
              <a:buNone/>
            </a:pPr>
            <a:r>
              <a:rPr sz="2400" b="1" dirty="0"/>
              <a:t>5. Auction ends → Winner declared</a:t>
            </a:r>
          </a:p>
        </p:txBody>
      </p:sp>
      <p:sp>
        <p:nvSpPr>
          <p:cNvPr id="8" name="Arrow: Down 7">
            <a:extLst>
              <a:ext uri="{FF2B5EF4-FFF2-40B4-BE49-F238E27FC236}">
                <a16:creationId xmlns:a16="http://schemas.microsoft.com/office/drawing/2014/main" id="{6612518A-269F-C57E-E81B-30964E983576}"/>
              </a:ext>
            </a:extLst>
          </p:cNvPr>
          <p:cNvSpPr/>
          <p:nvPr/>
        </p:nvSpPr>
        <p:spPr>
          <a:xfrm>
            <a:off x="2310580" y="1733755"/>
            <a:ext cx="294968" cy="599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Down 8">
            <a:extLst>
              <a:ext uri="{FF2B5EF4-FFF2-40B4-BE49-F238E27FC236}">
                <a16:creationId xmlns:a16="http://schemas.microsoft.com/office/drawing/2014/main" id="{601CC9AB-D120-E2BB-3E99-7A9E2FEDAE42}"/>
              </a:ext>
            </a:extLst>
          </p:cNvPr>
          <p:cNvSpPr/>
          <p:nvPr/>
        </p:nvSpPr>
        <p:spPr>
          <a:xfrm>
            <a:off x="2315496" y="2694039"/>
            <a:ext cx="294968" cy="599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E2ABE85D-B49B-FF85-8E1C-FF945A73F15B}"/>
              </a:ext>
            </a:extLst>
          </p:cNvPr>
          <p:cNvSpPr/>
          <p:nvPr/>
        </p:nvSpPr>
        <p:spPr>
          <a:xfrm>
            <a:off x="2310580" y="3723148"/>
            <a:ext cx="294968" cy="599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a:extLst>
              <a:ext uri="{FF2B5EF4-FFF2-40B4-BE49-F238E27FC236}">
                <a16:creationId xmlns:a16="http://schemas.microsoft.com/office/drawing/2014/main" id="{AD8CDA06-B978-9A26-E13E-6D6B20BEFEA4}"/>
              </a:ext>
            </a:extLst>
          </p:cNvPr>
          <p:cNvSpPr/>
          <p:nvPr/>
        </p:nvSpPr>
        <p:spPr>
          <a:xfrm>
            <a:off x="2315496" y="4683432"/>
            <a:ext cx="294968" cy="599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a:xfrm>
            <a:off x="1133661" y="1310051"/>
            <a:ext cx="5299588" cy="2136107"/>
          </a:xfrm>
        </p:spPr>
        <p:txBody>
          <a:bodyPr>
            <a:normAutofit/>
          </a:bodyPr>
          <a:lstStyle/>
          <a:p>
            <a:pPr marL="0" indent="0">
              <a:buNone/>
            </a:pPr>
            <a:r>
              <a:rPr sz="2400" dirty="0"/>
              <a:t>• Easy to use</a:t>
            </a:r>
          </a:p>
          <a:p>
            <a:pPr marL="0" indent="0">
              <a:buNone/>
            </a:pPr>
            <a:r>
              <a:rPr sz="2400" dirty="0"/>
              <a:t>• Real-time interaction</a:t>
            </a:r>
          </a:p>
          <a:p>
            <a:pPr marL="0" indent="0">
              <a:buNone/>
            </a:pPr>
            <a:r>
              <a:rPr sz="2400" dirty="0"/>
              <a:t>• Scalable design</a:t>
            </a:r>
          </a:p>
          <a:p>
            <a:pPr marL="0" indent="0">
              <a:buNone/>
            </a:pPr>
            <a:r>
              <a:rPr sz="2400" dirty="0"/>
              <a:t>• Demonstrates OOP clearly</a:t>
            </a:r>
          </a:p>
        </p:txBody>
      </p:sp>
      <p:pic>
        <p:nvPicPr>
          <p:cNvPr id="5" name="Picture 4">
            <a:extLst>
              <a:ext uri="{FF2B5EF4-FFF2-40B4-BE49-F238E27FC236}">
                <a16:creationId xmlns:a16="http://schemas.microsoft.com/office/drawing/2014/main" id="{7FE3AD87-31A0-C5D0-0C5C-317EC0CEDB94}"/>
              </a:ext>
            </a:extLst>
          </p:cNvPr>
          <p:cNvPicPr>
            <a:picLocks noChangeAspect="1"/>
          </p:cNvPicPr>
          <p:nvPr/>
        </p:nvPicPr>
        <p:blipFill>
          <a:blip r:embed="rId2"/>
          <a:stretch>
            <a:fillRect/>
          </a:stretch>
        </p:blipFill>
        <p:spPr>
          <a:xfrm>
            <a:off x="1970714" y="3429000"/>
            <a:ext cx="5402360" cy="32773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392" y="1454552"/>
            <a:ext cx="6347713" cy="1320800"/>
          </a:xfrm>
        </p:spPr>
        <p:txBody>
          <a:bodyPr/>
          <a:lstStyle/>
          <a:p>
            <a:r>
              <a:rPr dirty="0"/>
              <a:t>Future Enhancements</a:t>
            </a:r>
          </a:p>
        </p:txBody>
      </p:sp>
      <p:sp>
        <p:nvSpPr>
          <p:cNvPr id="3" name="Content Placeholder 2"/>
          <p:cNvSpPr>
            <a:spLocks noGrp="1"/>
          </p:cNvSpPr>
          <p:nvPr>
            <p:ph idx="1"/>
          </p:nvPr>
        </p:nvSpPr>
        <p:spPr>
          <a:xfrm>
            <a:off x="1581872" y="2367627"/>
            <a:ext cx="6347714" cy="3880773"/>
          </a:xfrm>
        </p:spPr>
        <p:txBody>
          <a:bodyPr>
            <a:normAutofit/>
          </a:bodyPr>
          <a:lstStyle/>
          <a:p>
            <a:pPr marL="0" indent="0">
              <a:buNone/>
            </a:pPr>
            <a:r>
              <a:rPr sz="2400" dirty="0"/>
              <a:t>• Database integration</a:t>
            </a:r>
          </a:p>
          <a:p>
            <a:pPr marL="0" indent="0">
              <a:buNone/>
            </a:pPr>
            <a:r>
              <a:rPr sz="2400" dirty="0"/>
              <a:t>• Multiple items</a:t>
            </a:r>
          </a:p>
          <a:p>
            <a:pPr marL="0" indent="0">
              <a:buNone/>
            </a:pPr>
            <a:r>
              <a:rPr sz="2400" dirty="0"/>
              <a:t>• Admin panel</a:t>
            </a:r>
          </a:p>
          <a:p>
            <a:pPr marL="0" indent="0">
              <a:buNone/>
            </a:pPr>
            <a:r>
              <a:rPr sz="2400" dirty="0"/>
              <a:t>• Dark theme UI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573161"/>
            <a:ext cx="6347713" cy="1320800"/>
          </a:xfrm>
        </p:spPr>
        <p:txBody>
          <a:bodyPr/>
          <a:lstStyle/>
          <a:p>
            <a:r>
              <a:rPr dirty="0"/>
              <a:t>Conclusion</a:t>
            </a:r>
          </a:p>
        </p:txBody>
      </p:sp>
      <p:sp>
        <p:nvSpPr>
          <p:cNvPr id="3" name="Content Placeholder 2"/>
          <p:cNvSpPr>
            <a:spLocks noGrp="1"/>
          </p:cNvSpPr>
          <p:nvPr>
            <p:ph idx="1"/>
          </p:nvPr>
        </p:nvSpPr>
        <p:spPr>
          <a:xfrm>
            <a:off x="1036314" y="2544048"/>
            <a:ext cx="6347714" cy="3880773"/>
          </a:xfrm>
        </p:spPr>
        <p:txBody>
          <a:bodyPr/>
          <a:lstStyle/>
          <a:p>
            <a:r>
              <a:rPr dirty="0"/>
              <a:t>This project demonstrates a complete OOP-based system</a:t>
            </a:r>
          </a:p>
          <a:p>
            <a:r>
              <a:rPr dirty="0"/>
              <a:t>with real-time interaction and user-friendly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E01B-93BA-20DE-8B0A-F3E4794827C6}"/>
              </a:ext>
            </a:extLst>
          </p:cNvPr>
          <p:cNvSpPr>
            <a:spLocks noGrp="1"/>
          </p:cNvSpPr>
          <p:nvPr>
            <p:ph type="title"/>
          </p:nvPr>
        </p:nvSpPr>
        <p:spPr>
          <a:xfrm>
            <a:off x="1465005" y="2251588"/>
            <a:ext cx="4444182" cy="1327356"/>
          </a:xfrm>
        </p:spPr>
        <p:txBody>
          <a:bodyPr>
            <a:normAutofit/>
          </a:bodyPr>
          <a:lstStyle/>
          <a:p>
            <a:r>
              <a:rPr lang="en-US" sz="6600" dirty="0"/>
              <a:t>Thank You</a:t>
            </a:r>
            <a:endParaRPr lang="en-IN" sz="6600" dirty="0"/>
          </a:p>
        </p:txBody>
      </p:sp>
      <p:sp>
        <p:nvSpPr>
          <p:cNvPr id="3" name="Content Placeholder 2">
            <a:extLst>
              <a:ext uri="{FF2B5EF4-FFF2-40B4-BE49-F238E27FC236}">
                <a16:creationId xmlns:a16="http://schemas.microsoft.com/office/drawing/2014/main" id="{BE538931-2D6B-216A-29B7-C720238EE58B}"/>
              </a:ext>
            </a:extLst>
          </p:cNvPr>
          <p:cNvSpPr>
            <a:spLocks noGrp="1"/>
          </p:cNvSpPr>
          <p:nvPr>
            <p:ph idx="1"/>
          </p:nvPr>
        </p:nvSpPr>
        <p:spPr>
          <a:xfrm>
            <a:off x="1317520" y="3431796"/>
            <a:ext cx="5388079" cy="1327356"/>
          </a:xfrm>
        </p:spPr>
        <p:txBody>
          <a:bodyPr/>
          <a:lstStyle/>
          <a:p>
            <a:r>
              <a:rPr lang="en-US" dirty="0"/>
              <a:t>Saswata Basak</a:t>
            </a:r>
          </a:p>
          <a:p>
            <a:r>
              <a:rPr lang="en-IN" dirty="0"/>
              <a:t>GitHub Link : </a:t>
            </a:r>
            <a:r>
              <a:rPr lang="en-US" dirty="0">
                <a:hlinkClick r:id="rId2"/>
              </a:rPr>
              <a:t>Click Here to Find the Project</a:t>
            </a:r>
            <a:endParaRPr lang="en-IN" dirty="0"/>
          </a:p>
        </p:txBody>
      </p:sp>
    </p:spTree>
    <p:extLst>
      <p:ext uri="{BB962C8B-B14F-4D97-AF65-F5344CB8AC3E}">
        <p14:creationId xmlns:p14="http://schemas.microsoft.com/office/powerpoint/2010/main" val="26224558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60</TotalTime>
  <Words>349</Words>
  <Application>Microsoft Office PowerPoint</Application>
  <PresentationFormat>On-screen Show (4:3)</PresentationFormat>
  <Paragraphs>63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Online Auction System</vt:lpstr>
      <vt:lpstr>Problem Statement</vt:lpstr>
      <vt:lpstr>Objectives</vt:lpstr>
      <vt:lpstr>Technologies Used</vt:lpstr>
      <vt:lpstr>PowerPoint Presentation</vt:lpstr>
      <vt:lpstr>User Interface</vt:lpstr>
      <vt:lpstr>System Features</vt:lpstr>
      <vt:lpstr>Auction Flow</vt:lpstr>
      <vt:lpstr>Advantages</vt:lpstr>
      <vt:lpstr>Future Enhancements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SASWATA BASAK</cp:lastModifiedBy>
  <cp:revision>3</cp:revision>
  <dcterms:created xsi:type="dcterms:W3CDTF">2013-01-27T09:14:16Z</dcterms:created>
  <dcterms:modified xsi:type="dcterms:W3CDTF">2026-03-29T18:23:52Z</dcterms:modified>
  <cp:category/>
</cp:coreProperties>
</file>